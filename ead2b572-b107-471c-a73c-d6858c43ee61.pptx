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6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737961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Machine Training with Reinforcement Learning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4249936"/>
            <a:ext cx="4677847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(Q-Learning &amp; DQN)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6244709" y="5144929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By: Lakshay 23CSU178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5728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226594"/>
            <a:ext cx="8855631" cy="541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Introduction to Reinforcement Learning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758309" y="4385548"/>
            <a:ext cx="4234101" cy="3190161"/>
          </a:xfrm>
          <a:prstGeom prst="roundRect">
            <a:avLst>
              <a:gd name="adj" fmla="val 3440"/>
            </a:avLst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758309" y="4362688"/>
            <a:ext cx="4234101" cy="91440"/>
          </a:xfrm>
          <a:prstGeom prst="roundRect">
            <a:avLst>
              <a:gd name="adj" fmla="val 94541"/>
            </a:avLst>
          </a:prstGeom>
          <a:solidFill>
            <a:srgbClr val="DA1B2E"/>
          </a:solidFill>
          <a:ln/>
        </p:spPr>
      </p:sp>
      <p:sp>
        <p:nvSpPr>
          <p:cNvPr id="6" name="Shape 3"/>
          <p:cNvSpPr/>
          <p:nvPr/>
        </p:nvSpPr>
        <p:spPr>
          <a:xfrm>
            <a:off x="2566630" y="4076819"/>
            <a:ext cx="617458" cy="617458"/>
          </a:xfrm>
          <a:prstGeom prst="roundRect">
            <a:avLst>
              <a:gd name="adj" fmla="val 148091"/>
            </a:avLst>
          </a:prstGeom>
          <a:solidFill>
            <a:srgbClr val="DA1B2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51892" y="4261961"/>
            <a:ext cx="246936" cy="2469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6909" y="4900017"/>
            <a:ext cx="2708196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RL Overview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986909" y="5361980"/>
            <a:ext cx="3776901" cy="1646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Reinforcement Learning is a paradigm where an agent learns to make decisions by performing actions in an environment to maximize cumulative reward.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198150" y="4385548"/>
            <a:ext cx="4234101" cy="3190161"/>
          </a:xfrm>
          <a:prstGeom prst="roundRect">
            <a:avLst>
              <a:gd name="adj" fmla="val 3440"/>
            </a:avLst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5198150" y="4362688"/>
            <a:ext cx="4234101" cy="91440"/>
          </a:xfrm>
          <a:prstGeom prst="roundRect">
            <a:avLst>
              <a:gd name="adj" fmla="val 94541"/>
            </a:avLst>
          </a:prstGeom>
          <a:solidFill>
            <a:srgbClr val="DA1B2E"/>
          </a:solidFill>
          <a:ln/>
        </p:spPr>
      </p:sp>
      <p:sp>
        <p:nvSpPr>
          <p:cNvPr id="12" name="Shape 8"/>
          <p:cNvSpPr/>
          <p:nvPr/>
        </p:nvSpPr>
        <p:spPr>
          <a:xfrm>
            <a:off x="7006471" y="4076819"/>
            <a:ext cx="617458" cy="617458"/>
          </a:xfrm>
          <a:prstGeom prst="roundRect">
            <a:avLst>
              <a:gd name="adj" fmla="val 148091"/>
            </a:avLst>
          </a:prstGeom>
          <a:solidFill>
            <a:srgbClr val="DA1B2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1732" y="4261961"/>
            <a:ext cx="246936" cy="2469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26750" y="4900017"/>
            <a:ext cx="3776901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Agent-Environment Interaction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5426750" y="5700474"/>
            <a:ext cx="3776901" cy="1646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core of RL involves an agent observing its state in an environment, taking an action, and receiving a reward and a new state. This feedback loop drives learning.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9637990" y="4385548"/>
            <a:ext cx="4234101" cy="3190161"/>
          </a:xfrm>
          <a:prstGeom prst="roundRect">
            <a:avLst>
              <a:gd name="adj" fmla="val 3440"/>
            </a:avLst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9637990" y="4362688"/>
            <a:ext cx="4234101" cy="91440"/>
          </a:xfrm>
          <a:prstGeom prst="roundRect">
            <a:avLst>
              <a:gd name="adj" fmla="val 94541"/>
            </a:avLst>
          </a:prstGeom>
          <a:solidFill>
            <a:srgbClr val="DA1B2E"/>
          </a:solidFill>
          <a:ln/>
        </p:spPr>
      </p:sp>
      <p:sp>
        <p:nvSpPr>
          <p:cNvPr id="18" name="Shape 13"/>
          <p:cNvSpPr/>
          <p:nvPr/>
        </p:nvSpPr>
        <p:spPr>
          <a:xfrm>
            <a:off x="11446312" y="4076819"/>
            <a:ext cx="617458" cy="617458"/>
          </a:xfrm>
          <a:prstGeom prst="roundRect">
            <a:avLst>
              <a:gd name="adj" fmla="val 148091"/>
            </a:avLst>
          </a:prstGeom>
          <a:solidFill>
            <a:srgbClr val="DA1B2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31573" y="4261961"/>
            <a:ext cx="246936" cy="2469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866590" y="4900017"/>
            <a:ext cx="3634859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Training Through Rewards</a:t>
            </a:r>
            <a:endParaRPr lang="en-US" sz="2100" dirty="0"/>
          </a:p>
        </p:txBody>
      </p:sp>
      <p:sp>
        <p:nvSpPr>
          <p:cNvPr id="21" name="Text 15"/>
          <p:cNvSpPr/>
          <p:nvPr/>
        </p:nvSpPr>
        <p:spPr>
          <a:xfrm>
            <a:off x="9866590" y="5361980"/>
            <a:ext cx="3776901" cy="1646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agent's goal is to learn an optimal policy—a mapping from states to actions—that yields the highest long-term reward. Positive rewards reinforce desired behaviors.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374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033236"/>
            <a:ext cx="7856934" cy="513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Project Objective: Training a Machine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58309" y="3838813"/>
            <a:ext cx="13113782" cy="623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project aims to demonstrate and compare two fundamental reinforcement learning algorithms: Q-Learning and Deep Q-Networks (DQN), in a simulated environment.</a:t>
            </a:r>
            <a:endParaRPr lang="en-US" sz="1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09" y="5266968"/>
            <a:ext cx="4241244" cy="1143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53214" y="6046827"/>
            <a:ext cx="3794641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Train with Q-Learning &amp; DQN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953214" y="6484382"/>
            <a:ext cx="3851434" cy="935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Implementing both algorithms to showcase their distinct learning mechanisms.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4459" y="4974431"/>
            <a:ext cx="4241363" cy="1143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389364" y="5754291"/>
            <a:ext cx="3693081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Dataset-based Room States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5389364" y="6191845"/>
            <a:ext cx="3851553" cy="1247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Utilizing a pre-generated dataset to define the environment's states, simulating various room configurations.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0728" y="4682014"/>
            <a:ext cx="4241244" cy="11430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825633" y="5461873"/>
            <a:ext cx="3658195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Compare Learning Methods</a:t>
            </a:r>
            <a:endParaRPr lang="en-US" sz="2000" dirty="0"/>
          </a:p>
        </p:txBody>
      </p:sp>
      <p:sp>
        <p:nvSpPr>
          <p:cNvPr id="13" name="Text 7"/>
          <p:cNvSpPr/>
          <p:nvPr/>
        </p:nvSpPr>
        <p:spPr>
          <a:xfrm>
            <a:off x="9825633" y="5899428"/>
            <a:ext cx="3851434" cy="935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Analyzing the performance and efficiency of Q-Learning versus DQN in achieving optimal behavior.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6964" y="797243"/>
            <a:ext cx="7698343" cy="526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3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Dataset for Environment Simulation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186964" y="1624370"/>
            <a:ext cx="7742873" cy="6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To facilitate reproducible and consistent training, a custom dataset was generated to represent the environment.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186964" y="2669977"/>
            <a:ext cx="4450318" cy="128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Generated 5x5 Grid Environment: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 discrete, grid-based world was created, offering a manageable state space for learning.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186964" y="4020622"/>
            <a:ext cx="4450318" cy="960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Contains Dirty/Clean Spots: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Each cell in the grid can be either dirty or clean, presenting the agent with cleaning tasks.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186964" y="5051108"/>
            <a:ext cx="4450318" cy="128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Used for Training Episodes: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This dataset provides a fixed set of initial conditions for each training episode, ensuring fairness in comparison.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186964" y="6401753"/>
            <a:ext cx="4450318" cy="960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State Representation: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Each state captures the agent's position and the cleanliness status of all cells.</a:t>
            </a:r>
            <a:endParaRPr lang="en-US" sz="15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3296" y="2714982"/>
            <a:ext cx="2804041" cy="28040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022985"/>
            <a:ext cx="7383304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Environment Simulation Details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58309" y="2026325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simulated environment is crucial for observing the agent's learning process and evaluating its policy.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51309" y="2833092"/>
            <a:ext cx="374403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Grid Simulation in Python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58309" y="3319224"/>
            <a:ext cx="3937040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environment logic was entirely implemented in Python, allowing for flexible state management and action execution.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0270" y="2616756"/>
            <a:ext cx="4589740" cy="458974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9290" y="3435132"/>
            <a:ext cx="324088" cy="3240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34932" y="300644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Agent Movement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934932" y="3492579"/>
            <a:ext cx="3937159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agent can move in four cardinal directions (Up, Down, Left, Right), one step at a time.</a:t>
            </a:r>
            <a:endParaRPr lang="en-US" sz="1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270" y="2616756"/>
            <a:ext cx="4589740" cy="458974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67308" y="3825776"/>
            <a:ext cx="324088" cy="3240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934932" y="563713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Cleaning Action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9934932" y="6123265"/>
            <a:ext cx="39371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If the agent is on a dirty spot, it can perform a "clean" action.</a:t>
            </a:r>
            <a:endParaRPr lang="en-US" sz="17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0270" y="2616756"/>
            <a:ext cx="4589740" cy="4589740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76664" y="6063794"/>
            <a:ext cx="324088" cy="32408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720334" y="5463778"/>
            <a:ext cx="297501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Reward for Cleaning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758309" y="5949910"/>
            <a:ext cx="393704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Cleaning a dirty spot yields a positive reward of +10, encouraging the agent to clean effectively.</a:t>
            </a:r>
            <a:endParaRPr lang="en-US" sz="17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0270" y="2616756"/>
            <a:ext cx="4589740" cy="4589740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38646" y="5673150"/>
            <a:ext cx="324088" cy="3240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826889"/>
            <a:ext cx="4329946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Q-Learning Approach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758309" y="1587698"/>
            <a:ext cx="7627382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Q-Learning is a model-free reinforcement learning algorithm that finds the best action to take given the current state.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758309" y="2384227"/>
            <a:ext cx="3721656" cy="2711887"/>
          </a:xfrm>
          <a:prstGeom prst="roundRect">
            <a:avLst>
              <a:gd name="adj" fmla="val 2852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0000" y="2575917"/>
            <a:ext cx="552450" cy="552450"/>
          </a:xfrm>
          <a:prstGeom prst="roundRect">
            <a:avLst>
              <a:gd name="adj" fmla="val 16550069"/>
            </a:avLst>
          </a:prstGeom>
          <a:solidFill>
            <a:srgbClr val="DA1B2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923" y="2727841"/>
            <a:ext cx="248602" cy="2486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0000" y="3312438"/>
            <a:ext cx="2423160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Uses Q-Table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950000" y="3725704"/>
            <a:ext cx="3338274" cy="117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Q-table stores state-action pair values, representing the expected future reward for taking an action in a given state.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4664035" y="2384227"/>
            <a:ext cx="3721656" cy="2711887"/>
          </a:xfrm>
          <a:prstGeom prst="roundRect">
            <a:avLst>
              <a:gd name="adj" fmla="val 2852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855726" y="2575917"/>
            <a:ext cx="552450" cy="552450"/>
          </a:xfrm>
          <a:prstGeom prst="roundRect">
            <a:avLst>
              <a:gd name="adj" fmla="val 16550069"/>
            </a:avLst>
          </a:prstGeom>
          <a:solidFill>
            <a:srgbClr val="DA1B2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7650" y="2727841"/>
            <a:ext cx="248602" cy="24860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55726" y="3312438"/>
            <a:ext cx="3274695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Bellman Equation Updates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4855726" y="3725704"/>
            <a:ext cx="3338274" cy="117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Q-values are iteratively updated using the Bellman equation, which incorporates immediate rewards and discounted future rewards.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758309" y="5280184"/>
            <a:ext cx="7627382" cy="2122527"/>
          </a:xfrm>
          <a:prstGeom prst="roundRect">
            <a:avLst>
              <a:gd name="adj" fmla="val 3644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50000" y="5471874"/>
            <a:ext cx="552450" cy="552450"/>
          </a:xfrm>
          <a:prstGeom prst="roundRect">
            <a:avLst>
              <a:gd name="adj" fmla="val 16550069"/>
            </a:avLst>
          </a:prstGeom>
          <a:solidFill>
            <a:srgbClr val="DA1B2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1923" y="5623798"/>
            <a:ext cx="248602" cy="2486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50000" y="6208395"/>
            <a:ext cx="3444716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Epsilon-Greedy Exploration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950000" y="6621661"/>
            <a:ext cx="7244001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agent balances exploration (trying new actions) and exploitation (using known best actions) through an epsilon-greedy policy.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673537"/>
            <a:ext cx="6037421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6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Deep Q-Network (DQN) Approach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758309" y="1344811"/>
            <a:ext cx="7627382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DQN extends Q-Learning by using a neural network to approximate the Q-function, enabling it to handle larger state spaces.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58309" y="2047637"/>
            <a:ext cx="7627382" cy="1255276"/>
          </a:xfrm>
          <a:prstGeom prst="roundRect">
            <a:avLst>
              <a:gd name="adj" fmla="val 8741"/>
            </a:avLst>
          </a:prstGeom>
          <a:solidFill>
            <a:srgbClr val="FFFFFF"/>
          </a:solidFill>
          <a:ln w="22860">
            <a:solidFill>
              <a:srgbClr val="DFB8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5449" y="2047637"/>
            <a:ext cx="91440" cy="1255276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</p:sp>
      <p:sp>
        <p:nvSpPr>
          <p:cNvPr id="7" name="Text 4"/>
          <p:cNvSpPr/>
          <p:nvPr/>
        </p:nvSpPr>
        <p:spPr>
          <a:xfrm>
            <a:off x="1012150" y="2232898"/>
            <a:ext cx="3165872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Neural Network for Q-Values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12150" y="2597587"/>
            <a:ext cx="7188279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Instead of a table, a deep neural network takes the state as input and outputs the Q-values for all possible actions.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58309" y="3465314"/>
            <a:ext cx="7627382" cy="1255276"/>
          </a:xfrm>
          <a:prstGeom prst="roundRect">
            <a:avLst>
              <a:gd name="adj" fmla="val 8741"/>
            </a:avLst>
          </a:prstGeom>
          <a:solidFill>
            <a:srgbClr val="FFFFFF"/>
          </a:solidFill>
          <a:ln w="22860">
            <a:solidFill>
              <a:srgbClr val="DFB8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5449" y="3465314"/>
            <a:ext cx="91440" cy="1255276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</p:sp>
      <p:sp>
        <p:nvSpPr>
          <p:cNvPr id="11" name="Text 8"/>
          <p:cNvSpPr/>
          <p:nvPr/>
        </p:nvSpPr>
        <p:spPr>
          <a:xfrm>
            <a:off x="1012150" y="3650575"/>
            <a:ext cx="2138005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Experience Replay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012150" y="4015264"/>
            <a:ext cx="7188279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DQN uses a replay memory to store past experiences (state, action, reward, next state), which are then sampled randomly for training. This decorrelates successive samples.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58309" y="4882991"/>
            <a:ext cx="7627382" cy="1255276"/>
          </a:xfrm>
          <a:prstGeom prst="roundRect">
            <a:avLst>
              <a:gd name="adj" fmla="val 8741"/>
            </a:avLst>
          </a:prstGeom>
          <a:solidFill>
            <a:srgbClr val="FFFFFF"/>
          </a:solidFill>
          <a:ln w="22860">
            <a:solidFill>
              <a:srgbClr val="DFB8B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5449" y="4882991"/>
            <a:ext cx="91440" cy="1255276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</p:sp>
      <p:sp>
        <p:nvSpPr>
          <p:cNvPr id="15" name="Text 12"/>
          <p:cNvSpPr/>
          <p:nvPr/>
        </p:nvSpPr>
        <p:spPr>
          <a:xfrm>
            <a:off x="1012150" y="5068252"/>
            <a:ext cx="2138005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Target Network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012150" y="5432941"/>
            <a:ext cx="7188279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separate target network, updated periodically, stabilizes the training process by providing consistent Q-targets.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58309" y="6300668"/>
            <a:ext cx="7627382" cy="1255276"/>
          </a:xfrm>
          <a:prstGeom prst="roundRect">
            <a:avLst>
              <a:gd name="adj" fmla="val 8741"/>
            </a:avLst>
          </a:prstGeom>
          <a:solidFill>
            <a:srgbClr val="FFFFFF"/>
          </a:solidFill>
          <a:ln w="22860">
            <a:solidFill>
              <a:srgbClr val="DFB8B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5449" y="6300668"/>
            <a:ext cx="91440" cy="1255276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</p:sp>
      <p:sp>
        <p:nvSpPr>
          <p:cNvPr id="19" name="Text 16"/>
          <p:cNvSpPr/>
          <p:nvPr/>
        </p:nvSpPr>
        <p:spPr>
          <a:xfrm>
            <a:off x="1012150" y="6485930"/>
            <a:ext cx="2337316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Better Generalization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1012150" y="6850618"/>
            <a:ext cx="7188279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neural network's ability to generalize allows DQN to perform well in environments with continuous or high-dimensional state spaces.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578775"/>
            <a:ext cx="7068264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Performance Comparison: Q-Learning vs. DQN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758309" y="3230880"/>
            <a:ext cx="13113782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key aspect of this project is to analyze the performance differences between traditional Q-Learning and the more advanced DQN.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58309" y="3614499"/>
            <a:ext cx="13113782" cy="1652588"/>
          </a:xfrm>
          <a:prstGeom prst="roundRect">
            <a:avLst>
              <a:gd name="adj" fmla="val 357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5929" y="3622119"/>
            <a:ext cx="13097232" cy="4093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07971" y="3714155"/>
            <a:ext cx="4080034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277088" y="3714155"/>
            <a:ext cx="4076224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Limited by state-action space size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42396" y="3714155"/>
            <a:ext cx="4080034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Handles large, continuous state spaces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65929" y="4031456"/>
            <a:ext cx="13097232" cy="40933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07971" y="4123492"/>
            <a:ext cx="4080034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Memory Usage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77088" y="4123492"/>
            <a:ext cx="4076224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High for large state spaces (Q-table)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42396" y="4123492"/>
            <a:ext cx="4080034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Relatively lower, fixed replay memory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5929" y="4440793"/>
            <a:ext cx="13097232" cy="4093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07971" y="4532828"/>
            <a:ext cx="4080034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Learning Speed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77088" y="4532828"/>
            <a:ext cx="4076224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Can be slow in complex environments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42396" y="4532828"/>
            <a:ext cx="4080034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Often learns faster with good generalization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5929" y="4850130"/>
            <a:ext cx="13097232" cy="40933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07971" y="4942165"/>
            <a:ext cx="4080034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Generalization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77088" y="4942165"/>
            <a:ext cx="4076224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Poor, needs to visit all state-action pairs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42396" y="4942165"/>
            <a:ext cx="4080034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Good, generalizes from unseen states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8309" y="5425440"/>
            <a:ext cx="13113782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While Q-Learning is simpler and effective for small, discrete environments, DQN's use of deep learning provides significant advantages for complex, real-world problems.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9095" y="297894"/>
            <a:ext cx="3704868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Analysis of Results and Visualizations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79095" y="724257"/>
            <a:ext cx="13872210" cy="147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To thoroughly evaluate the performance, various metrics and visualizations were generated.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79095" y="1067038"/>
            <a:ext cx="1435894" cy="151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Reward Growth Curves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79095" y="1310521"/>
            <a:ext cx="6823829" cy="147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Plots showing the cumulative reward per episode, indicating the learning progress over time for both algorithms.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79095" y="1549718"/>
            <a:ext cx="1211580" cy="151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Smoothed Curves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79095" y="1793200"/>
            <a:ext cx="6823829" cy="147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Averaged reward curves to filter out noise and highlight underlying learning trends.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79095" y="2032397"/>
            <a:ext cx="1211580" cy="151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Episode Steps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79095" y="2275880"/>
            <a:ext cx="6823829" cy="147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Graphs illustrating the number of steps taken per episode, showcasing efficiency improvements as the agent learns.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79095" y="2515076"/>
            <a:ext cx="1211580" cy="151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Q-Table Heatmap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79095" y="2758559"/>
            <a:ext cx="6823829" cy="147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For Q-Learning, a visual representation of the learned Q-values, helping to understand the agent's policy directly.</a:t>
            </a:r>
            <a:endParaRPr lang="en-US" sz="7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5096" y="1078587"/>
            <a:ext cx="5800249" cy="5800249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5096" y="6982420"/>
            <a:ext cx="5800249" cy="580024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9095" y="12989838"/>
            <a:ext cx="13872210" cy="147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visualizations clearly demonstrate the superior learning capability and generalization of DQN in this environment.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728543"/>
            <a:ext cx="7627382" cy="96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Conclusion: DQN's Superiority and Future Work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6244709" y="1973937"/>
            <a:ext cx="7627382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project successfully implemented and compared Q-Learning and DQN for machine training in a simulated environment.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244709" y="2770465"/>
            <a:ext cx="414338" cy="414338"/>
          </a:xfrm>
          <a:prstGeom prst="roundRect">
            <a:avLst>
              <a:gd name="adj" fmla="val 18668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43117" y="2833688"/>
            <a:ext cx="2626519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DQN Performs Better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843117" y="3246953"/>
            <a:ext cx="7028974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Our results unequivocally show that DQN achieved faster and more stable learning, particularly evident in its reward growth and efficiency.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44709" y="4204573"/>
            <a:ext cx="414338" cy="414338"/>
          </a:xfrm>
          <a:prstGeom prst="roundRect">
            <a:avLst>
              <a:gd name="adj" fmla="val 18668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43117" y="4267795"/>
            <a:ext cx="4029194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RL Successfully Trained Machine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843117" y="4681061"/>
            <a:ext cx="7028974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Both algorithms demonstrated the power of Reinforcement Learning in training an autonomous agent to perform tasks in a dynamic environment.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244709" y="5638681"/>
            <a:ext cx="414338" cy="414338"/>
          </a:xfrm>
          <a:prstGeom prst="roundRect">
            <a:avLst>
              <a:gd name="adj" fmla="val 18668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43117" y="5701903"/>
            <a:ext cx="4524613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Dataset Improved Learning Diversity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843117" y="6115169"/>
            <a:ext cx="7028974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use of a varied dataset ensured that the agent learned a robust policy capable of handling diverse environmental configurations.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244709" y="6911697"/>
            <a:ext cx="7627382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Future work could explore more complex environments, incorporate prioritized experience replay, or experiment with other advanced DQN variants.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2025-11-16T16:56:44Z</dcterms:created>
  <dcterms:modified xsi:type="dcterms:W3CDTF">2025-11-16T16:56:44Z</dcterms:modified>
</cp:coreProperties>
</file>